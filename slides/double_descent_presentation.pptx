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embeddedFontLs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U8UlXllETNQhO2jvPKtLIMMG1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F40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F1F40"/>
                </a:solidFill>
                <a:latin typeface="Arial"/>
              </a:rPr>
              <a:t>Test vs Train MSE — Width Sweep (Attempt 8b)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MSE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</c:v>
                </c:pt>
                <c:pt idx="1">
                  <c:v>30</c:v>
                </c:pt>
                <c:pt idx="2">
                  <c:v>80</c:v>
                </c:pt>
                <c:pt idx="3">
                  <c:v>150</c:v>
                </c:pt>
                <c:pt idx="4">
                  <c:v>220</c:v>
                </c:pt>
                <c:pt idx="5">
                  <c:v>260</c:v>
                </c:pt>
                <c:pt idx="6">
                  <c:v>300</c:v>
                </c:pt>
                <c:pt idx="7">
                  <c:v>400</c:v>
                </c:pt>
                <c:pt idx="8">
                  <c:v>700</c:v>
                </c:pt>
                <c:pt idx="9">
                  <c:v>1500</c:v>
                </c:pt>
                <c:pt idx="10">
                  <c:v>3000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0.88</c:v>
                </c:pt>
                <c:pt idx="1">
                  <c:v>0.72</c:v>
                </c:pt>
                <c:pt idx="2">
                  <c:v>0.44</c:v>
                </c:pt>
                <c:pt idx="3">
                  <c:v>0.14000000000000001</c:v>
                </c:pt>
                <c:pt idx="4">
                  <c:v>0.02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F6-4DB9-8118-C42C09B61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MSE (vs clean teacher)</c:v>
                </c:pt>
              </c:strCache>
            </c:strRef>
          </c:tx>
          <c:spPr>
            <a:ln w="31750" cap="flat">
              <a:solidFill>
                <a:srgbClr val="E052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246"/>
              </a:solidFill>
              <a:ln w="9525" cap="flat">
                <a:solidFill>
                  <a:srgbClr val="E052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</c:v>
                </c:pt>
                <c:pt idx="1">
                  <c:v>30</c:v>
                </c:pt>
                <c:pt idx="2">
                  <c:v>80</c:v>
                </c:pt>
                <c:pt idx="3">
                  <c:v>150</c:v>
                </c:pt>
                <c:pt idx="4">
                  <c:v>220</c:v>
                </c:pt>
                <c:pt idx="5">
                  <c:v>260</c:v>
                </c:pt>
                <c:pt idx="6">
                  <c:v>300</c:v>
                </c:pt>
                <c:pt idx="7">
                  <c:v>400</c:v>
                </c:pt>
                <c:pt idx="8">
                  <c:v>700</c:v>
                </c:pt>
                <c:pt idx="9">
                  <c:v>1500</c:v>
                </c:pt>
                <c:pt idx="10">
                  <c:v>3000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1.05</c:v>
                </c:pt>
                <c:pt idx="1">
                  <c:v>0.92</c:v>
                </c:pt>
                <c:pt idx="2">
                  <c:v>1.4</c:v>
                </c:pt>
                <c:pt idx="3">
                  <c:v>4.2</c:v>
                </c:pt>
                <c:pt idx="4">
                  <c:v>22</c:v>
                </c:pt>
                <c:pt idx="5">
                  <c:v>52.43</c:v>
                </c:pt>
                <c:pt idx="6">
                  <c:v>32</c:v>
                </c:pt>
                <c:pt idx="7">
                  <c:v>12.5</c:v>
                </c:pt>
                <c:pt idx="8">
                  <c:v>3.8</c:v>
                </c:pt>
                <c:pt idx="9">
                  <c:v>1.4</c:v>
                </c:pt>
                <c:pt idx="10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F6-4DB9-8118-C42C09B61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d229c204_0_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d229c204_0_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www.bradyneal.com/bias-variance-tradeoff-textbooks-update#belkin201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4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814184"/>
            <a:ext cx="8046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Double Descent in</a:t>
            </a:r>
            <a:br>
              <a:rPr b="1" lang="en-US"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lang="en-US" sz="4400">
                <a:solidFill>
                  <a:srgbClr val="CC0000"/>
                </a:solidFill>
                <a:latin typeface="Georgia"/>
                <a:ea typeface="Georgia"/>
                <a:cs typeface="Georgia"/>
                <a:sym typeface="Georgia"/>
              </a:rPr>
              <a:t>Overparameterized MLPs</a:t>
            </a:r>
            <a:endParaRPr sz="4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200400" y="2825864"/>
            <a:ext cx="27432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294473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 Teacher-Student MLP Study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3465944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AFC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EAFC2"/>
                </a:solidFill>
                <a:latin typeface="Calibri"/>
                <a:ea typeface="Calibri"/>
                <a:cs typeface="Calibri"/>
                <a:sym typeface="Calibri"/>
              </a:rPr>
              <a:t>Jia Yang Le  ·  Azis Maarij Jamil  ·  Komila Askarova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392314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5A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85A0"/>
                </a:solidFill>
                <a:latin typeface="Calibri"/>
                <a:ea typeface="Calibri"/>
                <a:cs typeface="Calibri"/>
                <a:sym typeface="Calibri"/>
              </a:rPr>
              <a:t>STAN47 – Deep Learning and AI Methods  ·  Lund University  ·  March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0" y="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https://docs.google.com/presentation/d/1kc7KSp4vkfgLLDUZ_amhfde9QAU5eHWZ/edit?usp=sharing&amp;ouid=114508209391673439562&amp;rtpof=true&amp;sd=true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Presentation Roadmap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20040" y="1005840"/>
            <a:ext cx="1920240" cy="329184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60120" y="1143000"/>
            <a:ext cx="640080" cy="640080"/>
          </a:xfrm>
          <a:prstGeom prst="ellipse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6012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0040" y="19202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Double Descent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Theory &amp; Setup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0040" y="34747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Jia Yang 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468880" y="1005840"/>
            <a:ext cx="1920240" cy="3291840"/>
          </a:xfrm>
          <a:prstGeom prst="rect">
            <a:avLst/>
          </a:prstGeom>
          <a:solidFill>
            <a:srgbClr val="F0FDFA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108960" y="1143000"/>
            <a:ext cx="640080" cy="6400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10896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468880" y="19202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Optimizer Effects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468880" y="34747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Komila Askarova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17720" y="1005840"/>
            <a:ext cx="1920240" cy="3291840"/>
          </a:xfrm>
          <a:prstGeom prst="rect">
            <a:avLst/>
          </a:prstGeom>
          <a:solidFill>
            <a:srgbClr val="FFFBE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257800" y="1143000"/>
            <a:ext cx="640080" cy="6400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5780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17720" y="19202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Regularization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Weight Decay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617720" y="34747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Azis Maarj Jamil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766560" y="1005840"/>
            <a:ext cx="1920240" cy="3291840"/>
          </a:xfrm>
          <a:prstGeom prst="rect">
            <a:avLst/>
          </a:prstGeom>
          <a:solidFill>
            <a:srgbClr val="F0F4FF"/>
          </a:solidFill>
          <a:ln cap="flat" cmpd="sng" w="254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406640" y="1143000"/>
            <a:ext cx="640080" cy="640080"/>
          </a:xfrm>
          <a:prstGeom prst="ellipse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40664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766560" y="19202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Conclusions &amp;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Discussion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66560" y="34747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Bias-Variance Tradeoff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20040" y="1325880"/>
            <a:ext cx="4206240" cy="31089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0040" y="1325880"/>
            <a:ext cx="64008" cy="310896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2920" y="1435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The Classical Paradigm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874520"/>
            <a:ext cx="3840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Models fit by minimizing training error (ERM)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Underfitting: too simple → high bias, poor train &amp; test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Overfitting: too complex → low train error, high test error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Classical solution: find the 'sweet spot' of complexity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Classical wisdom: more parameters = more overfitting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09160" y="1325880"/>
            <a:ext cx="4114800" cy="31089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09160" y="1325880"/>
            <a:ext cx="64008" cy="3108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852160" y="14356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00600" y="1764792"/>
            <a:ext cx="1554480" cy="27432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800600" y="176479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Underfitting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(High Bias)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178040" y="1764792"/>
            <a:ext cx="1508760" cy="27432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178040" y="17647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(High Variance)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1327" y="3781044"/>
            <a:ext cx="273266" cy="25603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26480" y="40690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Sweet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Spot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4626864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⚠  Modern deep networks are massively overparameterized — yet they generalize well. Why?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>
            <a:endCxn id="67" idx="2"/>
          </p:cNvCxnSpPr>
          <p:nvPr/>
        </p:nvCxnSpPr>
        <p:spPr>
          <a:xfrm flipH="1" rot="-5400000">
            <a:off x="4692527" y="2200260"/>
            <a:ext cx="1869900" cy="1547700"/>
          </a:xfrm>
          <a:prstGeom prst="curvedConnector2">
            <a:avLst/>
          </a:prstGeom>
          <a:noFill/>
          <a:ln cap="flat" cmpd="sng" w="381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" name="Google Shape;72;p3"/>
          <p:cNvCxnSpPr>
            <a:stCxn id="67" idx="6"/>
          </p:cNvCxnSpPr>
          <p:nvPr/>
        </p:nvCxnSpPr>
        <p:spPr>
          <a:xfrm flipH="1" rot="10800000">
            <a:off x="6674593" y="2039160"/>
            <a:ext cx="1545900" cy="1869900"/>
          </a:xfrm>
          <a:prstGeom prst="curvedConnector2">
            <a:avLst/>
          </a:prstGeom>
          <a:noFill/>
          <a:ln cap="flat" cmpd="sng" w="381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The Double Descent Phenomenon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234440" y="1463040"/>
            <a:ext cx="731520" cy="7315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23444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23317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Classical Regime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65760" y="26791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Underparameterized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3063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p/n &lt;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29768" y="333756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Bias-variance tradeoff holds. Increasing width → lower train &amp; test error.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160520" y="1463040"/>
            <a:ext cx="731520" cy="731520"/>
          </a:xfrm>
          <a:prstGeom prst="ellipse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16052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Interpolation Peak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91840" y="26791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Critical threshold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291840" y="3063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p/n ≈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355848" y="333756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fits training data exactly. Test error spikes at its peak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'crisis point'.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72200" y="1325880"/>
            <a:ext cx="2651760" cy="32004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086600" y="1463040"/>
            <a:ext cx="731520" cy="7315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08660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217920" y="233172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Modern Regime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217920" y="26791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Overparameterized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17920" y="3063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p/n &gt;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281928" y="333756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 overfits training data perfectly. But test error descends again.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Benign overfitting!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20040" y="46177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Key metric: </a:t>
            </a:r>
            <a:r>
              <a:rPr b="1" lang="en-US" sz="11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Parameter-to-sample ratio  p/n  </a:t>
            </a:r>
            <a:r>
              <a:rPr lang="en-US" sz="11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where p = model parameters, n = training samples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00800" y="4800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Belkin et al. (2019)  ·  Nakkiran et al. (2019)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d0d229c20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475" y="1208076"/>
            <a:ext cx="7375201" cy="272735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</p:pic>
      <p:sp>
        <p:nvSpPr>
          <p:cNvPr id="110" name="Google Shape;110;g3d0d229c204_0_2"/>
          <p:cNvSpPr txBox="1"/>
          <p:nvPr/>
        </p:nvSpPr>
        <p:spPr>
          <a:xfrm>
            <a:off x="6640375" y="4027950"/>
            <a:ext cx="178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rgbClr val="0085A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Belkin et al. (2019)</a:t>
            </a:r>
            <a:r>
              <a:rPr lang="en-US" sz="1350">
                <a:solidFill>
                  <a:srgbClr val="404040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Our Experimental Journey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20040" y="1325880"/>
            <a:ext cx="1965960" cy="333756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32688" y="1417320"/>
            <a:ext cx="640080" cy="640080"/>
          </a:xfrm>
          <a:prstGeom prst="ellipse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32688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219456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Fully-Trainable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MLP (Att. 1–4)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94360" y="3154680"/>
            <a:ext cx="1417320" cy="274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5760" y="3264408"/>
            <a:ext cx="1874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❌ No 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interpolation spike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468880" y="1325880"/>
            <a:ext cx="1965960" cy="3337560"/>
          </a:xfrm>
          <a:prstGeom prst="rect">
            <a:avLst/>
          </a:prstGeom>
          <a:solidFill>
            <a:srgbClr val="FFFBE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081528" y="1417320"/>
            <a:ext cx="640080" cy="6400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081528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514600" y="219456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Random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Regression (Att. 4a)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0" y="3154680"/>
            <a:ext cx="1417320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514600" y="3264408"/>
            <a:ext cx="1874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✓ Clean double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descent confirmed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17720" y="1325880"/>
            <a:ext cx="1965960" cy="3337560"/>
          </a:xfrm>
          <a:prstGeom prst="rect">
            <a:avLst/>
          </a:prstGeom>
          <a:solidFill>
            <a:srgbClr val="F0FDFA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230368" y="1417320"/>
            <a:ext cx="640080" cy="6400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230368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663440" y="219456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Refined MLP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Evaluation (Att. 5–6)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892040" y="3154680"/>
            <a:ext cx="141732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663440" y="3264408"/>
            <a:ext cx="1874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❌ Still smooth 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feature learning masks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766560" y="1325880"/>
            <a:ext cx="1965960" cy="3337560"/>
          </a:xfrm>
          <a:prstGeom prst="rect">
            <a:avLst/>
          </a:prstGeom>
          <a:solidFill>
            <a:srgbClr val="F0F4FF"/>
          </a:solidFill>
          <a:ln cap="flat" cmpd="sng" w="254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379208" y="1417320"/>
            <a:ext cx="640080" cy="640080"/>
          </a:xfrm>
          <a:prstGeom prst="ellipse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379208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12280" y="219456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Frozen-Layer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MLP (Att. 7–8b)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040880" y="3154680"/>
            <a:ext cx="1417320" cy="27432"/>
          </a:xfrm>
          <a:prstGeom prst="rect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812280" y="3264408"/>
            <a:ext cx="1874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✓ Clear double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descent reproduced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313432" y="2834640"/>
            <a:ext cx="310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462272" y="2834640"/>
            <a:ext cx="310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611112" y="2834640"/>
            <a:ext cx="310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4626864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Key insight: double descent visibility depends on representation learning · optimization · and evaluation protocol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Why Fully-Trainable MLPs Hide It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00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20040" y="1325880"/>
            <a:ext cx="64008" cy="333756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2920" y="141732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Phases 1 &amp; 3: Negative Result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1856232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 MSE decreases as width grows (as expected)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 MSE curve remains smooth (no spike visible)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Interpolation occurs but does not cause catastrophic test error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02920" y="31363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Three reasons why: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3447288"/>
            <a:ext cx="37490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Feature learning: width changes the effective hypothesis class, not just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Implicit regularization: SGD/Adam bias toward minimum-norm interpolants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Benign overfitting: overparameterized nets generalize despite zero train error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634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663440" y="1325880"/>
            <a:ext cx="64008" cy="3337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846320" y="141732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Phase 2: Diagnostic — Random Features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46320" y="1856232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 isolate the effect, we switched to fixed random ReLU features with a closed-form linear readout (Attempt 4a):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6320" y="25603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onsolas"/>
              <a:buNone/>
            </a:pPr>
            <a:r>
              <a:rPr b="1" i="1" lang="en-US" sz="1200">
                <a:solidFill>
                  <a:srgbClr val="0F1F40"/>
                </a:solidFill>
                <a:latin typeface="Consolas"/>
                <a:ea typeface="Consolas"/>
                <a:cs typeface="Consolas"/>
                <a:sym typeface="Consolas"/>
              </a:rPr>
              <a:t>φ(x) = ReLU(Wx),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200"/>
              <a:buFont typeface="Consolas"/>
              <a:buNone/>
            </a:pPr>
            <a:r>
              <a:rPr b="1" i="1" lang="en-US" sz="1200">
                <a:solidFill>
                  <a:srgbClr val="0F1F40"/>
                </a:solidFill>
                <a:latin typeface="Consolas"/>
                <a:ea typeface="Consolas"/>
                <a:cs typeface="Consolas"/>
                <a:sym typeface="Consolas"/>
              </a:rPr>
              <a:t>solve linear readout only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846320" y="2990088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n_train = 256,  d_in = 50,  noise_std = 0.5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Capacity = number of random features 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Interpolation confirmed at m = 260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00600" y="3931920"/>
            <a:ext cx="3931920" cy="59436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892040" y="3959352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✓  Canonical double descent confirmed — sharp train collapse, clear test peak, second descent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Attempt 4a confirmed the DGP can produce double descent — the fully-trainable MLP's feature learning was masking it.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RESULTS: NOTEBOOK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590"/>
              <a:buFont typeface="Georgia"/>
              <a:buNone/>
            </a:pPr>
            <a:r>
              <a:rPr b="1" lang="en-US" sz="259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Final Design: Frozen-Layer MLP (Attempt 8b)</a:t>
            </a:r>
            <a:endParaRPr sz="25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200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0040" y="1325880"/>
            <a:ext cx="64008" cy="3337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0292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94360" y="1892808"/>
            <a:ext cx="502920" cy="502920"/>
          </a:xfrm>
          <a:prstGeom prst="ellipse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94360" y="18928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115568" y="2112264"/>
            <a:ext cx="36576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115568" y="1984248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508760" y="1801368"/>
            <a:ext cx="1005840" cy="685800"/>
          </a:xfrm>
          <a:prstGeom prst="rect">
            <a:avLst/>
          </a:prstGeom>
          <a:solidFill>
            <a:srgbClr val="FEF2F2"/>
          </a:solidFill>
          <a:ln cap="flat" cmpd="sng" w="254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508760" y="180136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ReLU(Wx)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542032" y="19842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880360" y="1801368"/>
            <a:ext cx="868680" cy="685800"/>
          </a:xfrm>
          <a:prstGeom prst="rect">
            <a:avLst/>
          </a:prstGeom>
          <a:solidFill>
            <a:srgbClr val="F0FDFA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880360" y="1801368"/>
            <a:ext cx="868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aᵀ·h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767328" y="19842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ŷ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26517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onsolas"/>
              <a:buNone/>
            </a:pPr>
            <a:r>
              <a:rPr b="1" i="1" lang="en-US" sz="1300">
                <a:solidFill>
                  <a:srgbClr val="0F1F40"/>
                </a:solidFill>
                <a:latin typeface="Consolas"/>
                <a:ea typeface="Consolas"/>
                <a:cs typeface="Consolas"/>
                <a:sym typeface="Consolas"/>
              </a:rPr>
              <a:t>f(x) = aᵀ · ReLU(Wx)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306324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First layer W: random init, frozen throughout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Readout a: trained via Adam to convergence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Width m controls capacity — only a grows with 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This bridges random features theory and deep networks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634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663440" y="1325880"/>
            <a:ext cx="64008" cy="3337560"/>
          </a:xfrm>
          <a:prstGeom prst="rect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Training Protocol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46320" y="185623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870448" y="185623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n_train = 256,  n_test = 4 096,  d = 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846320" y="232257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Teacher: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870448" y="232257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Linear: y = xᵀw* + ε,  noise_std = 0.5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846320" y="2788920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Width sweep: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870448" y="27889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 = 10, 20, … 400, 500, 700 … 8 000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846320" y="3255264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Optimizer: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870448" y="325526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Adam,  lr = 0.01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846320" y="3721608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Stop criterion: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870448" y="372160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 MSE &lt; 1e-8  (guaranteed interpolation)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846320" y="418795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Eval: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870448" y="41879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 MSE vs. clean teacher (no noise)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Freezing the first layer eliminates feature learning — capacity is purely width-driven, giving a clean interpolation threshold.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RESULTS: NOTEBOOK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Double Descent: Actual Results (Attempt 8b)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8"/>
          <p:cNvGraphicFramePr/>
          <p:nvPr/>
        </p:nvGraphicFramePr>
        <p:xfrm>
          <a:off x="320040" y="1325880"/>
          <a:ext cx="539496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3" name="Google Shape;223;p8"/>
          <p:cNvSpPr/>
          <p:nvPr/>
        </p:nvSpPr>
        <p:spPr>
          <a:xfrm>
            <a:off x="3273552" y="2130552"/>
            <a:ext cx="1280160" cy="43891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273552" y="2130552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m=260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897880" y="1325880"/>
            <a:ext cx="2926080" cy="32004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035040" y="14356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035040" y="1828800"/>
            <a:ext cx="26974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 MSE → 0 at width ≈ n_train = 256 (guaranteed by early-stop)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 MSE peaks sharply at m = 260 (test MSE = 52.43)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Second descent: test MSE falls to ~0.80 at m = 3 000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Overparameterized models recover — benign overfitting confirmed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Result reproduces Belkin et al. (2019) qualitatively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943600" y="4069080"/>
            <a:ext cx="2834640" cy="384048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989320" y="40873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Peak: width = 260  →  test MSE = 52.43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x-axis: hidden width m. y-axis: MSE.  Data: n_train=256, noise_std=0.5, Adam, early-stop at train MSE&lt;1e-8.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4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Part 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Optimization Effects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AFC2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9EAFC2"/>
                </a:solidFill>
                <a:latin typeface="Calibri"/>
                <a:ea typeface="Calibri"/>
                <a:cs typeface="Calibri"/>
                <a:sym typeface="Calibri"/>
              </a:rPr>
              <a:t>How optimizer choice shapes behavior near the interpolation threshold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14400" y="38862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5A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85A0"/>
                </a:solidFill>
                <a:latin typeface="Calibri"/>
                <a:ea typeface="Calibri"/>
                <a:cs typeface="Calibri"/>
                <a:sym typeface="Calibri"/>
              </a:rPr>
              <a:t>Presented by Azis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4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 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lang="en-US" sz="4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Regularization Effects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AFC2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9EAFC2"/>
                </a:solidFill>
                <a:latin typeface="Calibri"/>
                <a:ea typeface="Calibri"/>
                <a:cs typeface="Calibri"/>
                <a:sym typeface="Calibri"/>
              </a:rPr>
              <a:t>How L2 weight decay reshapes the generalization curve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14400" y="38862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5A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B85A0"/>
                </a:solidFill>
                <a:latin typeface="Calibri"/>
                <a:ea typeface="Calibri"/>
                <a:cs typeface="Calibri"/>
                <a:sym typeface="Calibri"/>
              </a:rPr>
              <a:t>Presented by Kamila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Weight Decay (L2 Regularization)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035040" y="1435608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518200" y="1828800"/>
            <a:ext cx="3508500" cy="27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8001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Regularization Stabilizes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13716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L2 regularization (weight decay):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2" marL="18288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wd = 0.001, reduces spike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2" marL="1828800" marR="0" rtl="0" algn="l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■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wd = 0.1, completely removes spike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Overparameterization as Implicit Regularization (For wd = 0.0, when m ≫ n)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error drops again (second descent)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spreads noise across many parameters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SGD + redundancy made into implicit regularization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3416"/>
            <a:ext cx="5730241" cy="336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06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14400" y="3200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20040" y="1115568"/>
            <a:ext cx="8503920" cy="676656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16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20040" y="1115568"/>
            <a:ext cx="54864" cy="67665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57200" y="1316736"/>
            <a:ext cx="274320" cy="2743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7200" y="13167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41248" y="1115568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 is real — confirmed in a frozen-feature MLP: test MSE peaks at width=260 (52.43), then descends to 0.80 at width=3 000.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20040" y="1883664"/>
            <a:ext cx="8503920" cy="676656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16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20040" y="1883664"/>
            <a:ext cx="54864" cy="676656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57200" y="2084832"/>
            <a:ext cx="274320" cy="274320"/>
          </a:xfrm>
          <a:prstGeom prst="ellipse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7200" y="20848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41248" y="1883664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Fully-trainable MLPs hide the effect: feature learning and optimizer bias (SGD/Adam) smooth out the interpolation spike — benign overfitting.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0040" y="2651760"/>
            <a:ext cx="8503920" cy="676656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16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320040" y="2651760"/>
            <a:ext cx="54864" cy="6766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7200" y="2852928"/>
            <a:ext cx="274320" cy="2743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57200" y="2852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41248" y="2651760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Optimizer choice (Adam vs. SGD) affects convergence speed and generalization, but not the fundamental structure of the double descent curve.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20040" y="3419856"/>
            <a:ext cx="8503920" cy="676656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16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20040" y="3419856"/>
            <a:ext cx="54864" cy="67665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57200" y="3621024"/>
            <a:ext cx="274320" cy="2743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57200" y="36210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841248" y="3419856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 regularization suppresses the peak but introduces bias. Optimal strength depends on noise level.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320040" y="4187952"/>
            <a:ext cx="8503920" cy="676656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16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320040" y="4187952"/>
            <a:ext cx="54864" cy="676656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57200" y="4389120"/>
            <a:ext cx="274320" cy="274320"/>
          </a:xfrm>
          <a:prstGeom prst="ellipse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57200" y="4389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41248" y="4187952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 descent visibility depends on capacity × optimization × representation learning — not capacity alone.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Strengths &amp; Limitations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3200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320040" y="1325880"/>
            <a:ext cx="64008" cy="3337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02920" y="14356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✅  Strengths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48640" y="1892808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Controlled teacher-student setup cleanly isolates model complexity effects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Large test set (10 000) gives stable, reliable MSE estimates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Fixed seeds ensure full reproducibility across all conditions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Systematic parameter sweeps across wide range (4 → 1 024 neurons)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Three separate experiments isolate noise, optimizer, and regularization effects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663440" y="1325880"/>
            <a:ext cx="416052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663440" y="1325880"/>
            <a:ext cx="64008" cy="333756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846320" y="14356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⚠  Limitations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846320" y="1892808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Synthetic task — real-world data has structure, not Gaussian noise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Only two-layer MLPs tested — results may differ for deeper or convolutional architectures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Fixed n = 1 000 — epoch-wise double descent not explored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SGD learning rate hand-tuned — may not be fully optimal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Minimum-norm solution theory not directly verified empirically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365760" y="20116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F40"/>
                </a:solidFill>
                <a:latin typeface="Georgia"/>
                <a:ea typeface="Georgia"/>
                <a:cs typeface="Georgia"/>
                <a:sym typeface="Georgia"/>
              </a:rPr>
              <a:t>References &amp; Author Contributions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365760" y="1234440"/>
            <a:ext cx="84124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20040" y="1325880"/>
            <a:ext cx="502920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02920" y="141732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02920" y="1801368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[1] Belkin et al. (2019). Reconciling modern machine learning practice and the bias-variance tradeoff. PNAS.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02920" y="2350008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[2] Nakkiran et al. (2019). Deep Double Descent: Where Bigger Models and More Data Hurt. ICLR 2020.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02920" y="2898648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[3] Goodfellow, Bengio &amp; Courville (2016). Deep Learning. MIT Press. (Ch. 5, 7, 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02920" y="3447288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[4] Zhang et al. (2017). Understanding deep learning requires rethinking generalization. ICLR.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502920" y="3995928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[5] Kingma &amp; Ba (2015). Adam: A Method for Stochastic Optimization. ICLR.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532120" y="1325880"/>
            <a:ext cx="3291840" cy="333756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5532120" y="1325880"/>
            <a:ext cx="64008" cy="3337560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715000" y="14173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F40"/>
                </a:solidFill>
                <a:latin typeface="Calibri"/>
                <a:ea typeface="Calibri"/>
                <a:cs typeface="Calibri"/>
                <a:sym typeface="Calibri"/>
              </a:rPr>
              <a:t>Author Contributions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5641848" y="1828800"/>
            <a:ext cx="54864" cy="749808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5779008" y="182880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Jia Yang 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5779008" y="2121408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Double descent theory, teacher-student setup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5641848" y="2779776"/>
            <a:ext cx="54864" cy="749808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5779008" y="277977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Azis Maaraij Jamil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779008" y="3961055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Optimizer comparison, SGD vs Adam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641848" y="3730752"/>
            <a:ext cx="54864" cy="749808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779008" y="373075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Komila Askarova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779008" y="3015817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Regularization study, weight decay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F1F40"/>
          </a:solidFill>
          <a:ln cap="flat" cmpd="sng" w="12700">
            <a:solidFill>
              <a:srgbClr val="0F1F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11480" y="462686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🔗  github.com/LeJ7-commits/double-descent-overparameterized-mlps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40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246"/>
          </a:solidFill>
          <a:ln cap="flat" cmpd="sng" w="12700">
            <a:solidFill>
              <a:srgbClr val="E05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914400" y="777240"/>
            <a:ext cx="7315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Georgia"/>
              <a:buNone/>
            </a:pPr>
            <a:r>
              <a:rPr b="1" lang="en-US" sz="6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6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914400" y="27432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AFC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9EAFC2"/>
                </a:solidFill>
                <a:latin typeface="Calibri"/>
                <a:ea typeface="Calibri"/>
                <a:cs typeface="Calibri"/>
                <a:sym typeface="Calibri"/>
              </a:rPr>
              <a:t>STAN47 – Deep Learning and AI Methods  ·  Lund University  ·  March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1097280" y="3246120"/>
            <a:ext cx="6949440" cy="1371600"/>
          </a:xfrm>
          <a:prstGeom prst="rect">
            <a:avLst/>
          </a:prstGeom>
          <a:solidFill>
            <a:srgbClr val="16274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234440" y="3310128"/>
            <a:ext cx="667512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4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E05246"/>
                </a:solidFill>
                <a:latin typeface="Calibri"/>
                <a:ea typeface="Calibri"/>
                <a:cs typeface="Calibri"/>
                <a:sym typeface="Calibri"/>
              </a:rPr>
              <a:t>Key takeaway: </a:t>
            </a:r>
            <a:r>
              <a:rPr lang="en-US" sz="1200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Double descent shows that classical bias-variance theory may be incomplete. Overparameterized models can generalize well — understanding when and why requires new theoretical tools.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2026-03-13T09:52:26Z</dcterms:created>
  <dc:creator>STAN47 Group</dc:creator>
</cp:coreProperties>
</file>