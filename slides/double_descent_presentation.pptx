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70" r:id="rId14"/>
    <p:sldId id="271" r:id="rId15"/>
    <p:sldId id="272" r:id="rId16"/>
    <p:sldId id="273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0D9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8EDCF7-2E7A-475C-B070-2104BFA8BAA3}" v="23" dt="2026-03-17T09:25:04.7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599" autoAdjust="0"/>
  </p:normalViewPr>
  <p:slideViewPr>
    <p:cSldViewPr snapToGrid="0" snapToObjects="1">
      <p:cViewPr varScale="1">
        <p:scale>
          <a:sx n="71" d="100"/>
          <a:sy n="71" d="100"/>
        </p:scale>
        <p:origin x="52" y="116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3" d="100"/>
          <a:sy n="83" d="100"/>
        </p:scale>
        <p:origin x="3732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 Jiayang" userId="72dc08ead7328938" providerId="LiveId" clId="{2E694533-A3D7-44F0-8378-4BF09FAADAF7}"/>
    <pc:docChg chg="undo custSel delSld modSld modMainMaster">
      <pc:chgData name="Le Jiayang" userId="72dc08ead7328938" providerId="LiveId" clId="{2E694533-A3D7-44F0-8378-4BF09FAADAF7}" dt="2026-03-17T09:26:15.888" v="228" actId="20577"/>
      <pc:docMkLst>
        <pc:docMk/>
      </pc:docMkLst>
      <pc:sldChg chg="modSp mod setBg">
        <pc:chgData name="Le Jiayang" userId="72dc08ead7328938" providerId="LiveId" clId="{2E694533-A3D7-44F0-8378-4BF09FAADAF7}" dt="2026-03-13T12:12:33.774" v="164" actId="207"/>
        <pc:sldMkLst>
          <pc:docMk/>
          <pc:sldMk cId="0" sldId="256"/>
        </pc:sldMkLst>
        <pc:spChg chg="mod">
          <ac:chgData name="Le Jiayang" userId="72dc08ead7328938" providerId="LiveId" clId="{2E694533-A3D7-44F0-8378-4BF09FAADAF7}" dt="2026-03-13T12:12:33.774" v="164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Le Jiayang" userId="72dc08ead7328938" providerId="LiveId" clId="{2E694533-A3D7-44F0-8378-4BF09FAADAF7}" dt="2026-03-13T12:12:33.145" v="162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e Jiayang" userId="72dc08ead7328938" providerId="LiveId" clId="{2E694533-A3D7-44F0-8378-4BF09FAADAF7}" dt="2026-03-13T12:12:33.514" v="163" actId="207"/>
          <ac:spMkLst>
            <pc:docMk/>
            <pc:sldMk cId="0" sldId="256"/>
            <ac:spMk id="5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6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7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8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1:42:03.799" v="138" actId="20577"/>
        <pc:sldMkLst>
          <pc:docMk/>
          <pc:sldMk cId="0" sldId="257"/>
        </pc:sldMkLst>
        <pc:spChg chg="mod">
          <ac:chgData name="Le Jiayang" userId="72dc08ead7328938" providerId="LiveId" clId="{2E694533-A3D7-44F0-8378-4BF09FAADAF7}" dt="2026-03-13T11:04:06.263" v="71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2:03.799" v="138" actId="2057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Le Jiayang" userId="72dc08ead7328938" providerId="LiveId" clId="{2E694533-A3D7-44F0-8378-4BF09FAADAF7}" dt="2026-03-13T11:04:18.465" v="73"/>
          <ac:spMkLst>
            <pc:docMk/>
            <pc:sldMk cId="0" sldId="257"/>
            <ac:spMk id="13" creationId="{00000000-0000-0000-0000-000000000000}"/>
          </ac:spMkLst>
        </pc:spChg>
        <pc:spChg chg="mod">
          <ac:chgData name="Le Jiayang" userId="72dc08ead7328938" providerId="LiveId" clId="{2E694533-A3D7-44F0-8378-4BF09FAADAF7}" dt="2026-03-13T11:04:25.031" v="88" actId="20577"/>
          <ac:spMkLst>
            <pc:docMk/>
            <pc:sldMk cId="0" sldId="257"/>
            <ac:spMk id="18" creationId="{00000000-0000-0000-0000-000000000000}"/>
          </ac:spMkLst>
        </pc:spChg>
      </pc:sldChg>
      <pc:sldChg chg="addSp modSp mod setBg">
        <pc:chgData name="Le Jiayang" userId="72dc08ead7328938" providerId="LiveId" clId="{2E694533-A3D7-44F0-8378-4BF09FAADAF7}" dt="2026-03-16T11:52:16.600" v="184" actId="1582"/>
        <pc:sldMkLst>
          <pc:docMk/>
          <pc:sldMk cId="0" sldId="258"/>
        </pc:sldMkLst>
        <pc:spChg chg="mod">
          <ac:chgData name="Le Jiayang" userId="72dc08ead7328938" providerId="LiveId" clId="{2E694533-A3D7-44F0-8378-4BF09FAADAF7}" dt="2026-03-13T11:45:51.975" v="139" actId="1076"/>
          <ac:spMkLst>
            <pc:docMk/>
            <pc:sldMk cId="0" sldId="258"/>
            <ac:spMk id="17" creationId="{00000000-0000-0000-0000-000000000000}"/>
          </ac:spMkLst>
        </pc:spChg>
        <pc:cxnChg chg="add mod">
          <ac:chgData name="Le Jiayang" userId="72dc08ead7328938" providerId="LiveId" clId="{2E694533-A3D7-44F0-8378-4BF09FAADAF7}" dt="2026-03-16T11:51:54.485" v="180" actId="14100"/>
          <ac:cxnSpMkLst>
            <pc:docMk/>
            <pc:sldMk cId="0" sldId="258"/>
            <ac:cxnSpMk id="22" creationId="{F8570659-505C-6805-169B-0C78274414D4}"/>
          </ac:cxnSpMkLst>
        </pc:cxnChg>
        <pc:cxnChg chg="add mod">
          <ac:chgData name="Le Jiayang" userId="72dc08ead7328938" providerId="LiveId" clId="{2E694533-A3D7-44F0-8378-4BF09FAADAF7}" dt="2026-03-16T11:52:16.600" v="184" actId="1582"/>
          <ac:cxnSpMkLst>
            <pc:docMk/>
            <pc:sldMk cId="0" sldId="258"/>
            <ac:cxnSpMk id="25" creationId="{3C060030-A995-4AFC-1857-06003F4F25EB}"/>
          </ac:cxnSpMkLst>
        </pc:cxnChg>
      </pc:sldChg>
      <pc:sldChg chg="modSp mod setBg">
        <pc:chgData name="Le Jiayang" userId="72dc08ead7328938" providerId="LiveId" clId="{2E694533-A3D7-44F0-8378-4BF09FAADAF7}" dt="2026-03-17T08:08:48.845" v="206" actId="20577"/>
        <pc:sldMkLst>
          <pc:docMk/>
          <pc:sldMk cId="0" sldId="259"/>
        </pc:sldMkLst>
        <pc:spChg chg="mod">
          <ac:chgData name="Le Jiayang" userId="72dc08ead7328938" providerId="LiveId" clId="{2E694533-A3D7-44F0-8378-4BF09FAADAF7}" dt="2026-03-17T08:08:48.845" v="206" actId="20577"/>
          <ac:spMkLst>
            <pc:docMk/>
            <pc:sldMk cId="0" sldId="259"/>
            <ac:spMk id="19" creationId="{00000000-0000-0000-0000-000000000000}"/>
          </ac:spMkLst>
        </pc:spChg>
        <pc:spChg chg="mod">
          <ac:chgData name="Le Jiayang" userId="72dc08ead7328938" providerId="LiveId" clId="{2E694533-A3D7-44F0-8378-4BF09FAADAF7}" dt="2026-03-17T08:08:32.724" v="201" actId="20577"/>
          <ac:spMkLst>
            <pc:docMk/>
            <pc:sldMk cId="0" sldId="259"/>
            <ac:spMk id="26" creationId="{00000000-0000-0000-0000-000000000000}"/>
          </ac:spMkLst>
        </pc:spChg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0"/>
        </pc:sldMkLst>
      </pc:sldChg>
      <pc:sldChg chg="modSp mod setBg">
        <pc:chgData name="Le Jiayang" userId="72dc08ead7328938" providerId="LiveId" clId="{2E694533-A3D7-44F0-8378-4BF09FAADAF7}" dt="2026-03-17T08:14:12.264" v="214" actId="20577"/>
        <pc:sldMkLst>
          <pc:docMk/>
          <pc:sldMk cId="0" sldId="261"/>
        </pc:sldMkLst>
        <pc:spChg chg="mod">
          <ac:chgData name="Le Jiayang" userId="72dc08ead7328938" providerId="LiveId" clId="{2E694533-A3D7-44F0-8378-4BF09FAADAF7}" dt="2026-03-17T08:14:12.264" v="214" actId="20577"/>
          <ac:spMkLst>
            <pc:docMk/>
            <pc:sldMk cId="0" sldId="261"/>
            <ac:spMk id="9" creationId="{00000000-0000-0000-0000-000000000000}"/>
          </ac:spMkLst>
        </pc:spChg>
        <pc:spChg chg="mod">
          <ac:chgData name="Le Jiayang" userId="72dc08ead7328938" providerId="LiveId" clId="{2E694533-A3D7-44F0-8378-4BF09FAADAF7}" dt="2026-03-16T11:50:03.129" v="165" actId="20577"/>
          <ac:spMkLst>
            <pc:docMk/>
            <pc:sldMk cId="0" sldId="261"/>
            <ac:spMk id="16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0:57:37.500" v="5"/>
        <pc:sldMkLst>
          <pc:docMk/>
          <pc:sldMk cId="0" sldId="262"/>
        </pc:sldMkLst>
        <pc:spChg chg="mod">
          <ac:chgData name="Le Jiayang" userId="72dc08ead7328938" providerId="LiveId" clId="{2E694533-A3D7-44F0-8378-4BF09FAADAF7}" dt="2026-03-13T10:57:29.110" v="1" actId="27636"/>
          <ac:spMkLst>
            <pc:docMk/>
            <pc:sldMk cId="0" sldId="262"/>
            <ac:spMk id="4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6T11:50:25.262" v="174" actId="20577"/>
        <pc:sldMkLst>
          <pc:docMk/>
          <pc:sldMk cId="0" sldId="263"/>
        </pc:sldMkLst>
        <pc:spChg chg="mod">
          <ac:chgData name="Le Jiayang" userId="72dc08ead7328938" providerId="LiveId" clId="{2E694533-A3D7-44F0-8378-4BF09FAADAF7}" dt="2026-03-16T11:50:25.262" v="174" actId="20577"/>
          <ac:spMkLst>
            <pc:docMk/>
            <pc:sldMk cId="0" sldId="263"/>
            <ac:spMk id="14" creationId="{00000000-0000-0000-0000-000000000000}"/>
          </ac:spMkLst>
        </pc:spChg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4"/>
        </pc:sldMkLst>
      </pc:sldChg>
      <pc:sldChg chg="delSp modSp mod setBg">
        <pc:chgData name="Le Jiayang" userId="72dc08ead7328938" providerId="LiveId" clId="{2E694533-A3D7-44F0-8378-4BF09FAADAF7}" dt="2026-03-13T11:40:35.060" v="136" actId="478"/>
        <pc:sldMkLst>
          <pc:docMk/>
          <pc:sldMk cId="0" sldId="265"/>
        </pc:sldMkLst>
        <pc:spChg chg="mod">
          <ac:chgData name="Le Jiayang" userId="72dc08ead7328938" providerId="LiveId" clId="{2E694533-A3D7-44F0-8378-4BF09FAADAF7}" dt="2026-03-13T11:40:32.041" v="134" actId="20577"/>
          <ac:spMkLst>
            <pc:docMk/>
            <pc:sldMk cId="0" sldId="265"/>
            <ac:spMk id="4" creationId="{00000000-0000-0000-0000-000000000000}"/>
          </ac:spMkLst>
        </pc:spChg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7"/>
        </pc:sldMkLst>
      </pc:sldChg>
      <pc:sldChg chg="delSp modSp mod setBg">
        <pc:chgData name="Le Jiayang" userId="72dc08ead7328938" providerId="LiveId" clId="{2E694533-A3D7-44F0-8378-4BF09FAADAF7}" dt="2026-03-13T11:40:17.584" v="132" actId="478"/>
        <pc:sldMkLst>
          <pc:docMk/>
          <pc:sldMk cId="0" sldId="268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70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71"/>
        </pc:sldMkLst>
      </pc:sldChg>
      <pc:sldChg chg="modSp mod setBg">
        <pc:chgData name="Le Jiayang" userId="72dc08ead7328938" providerId="LiveId" clId="{2E694533-A3D7-44F0-8378-4BF09FAADAF7}" dt="2026-03-17T09:26:15.888" v="228" actId="20577"/>
        <pc:sldMkLst>
          <pc:docMk/>
          <pc:sldMk cId="0" sldId="272"/>
        </pc:sldMkLst>
        <pc:spChg chg="mod">
          <ac:chgData name="Le Jiayang" userId="72dc08ead7328938" providerId="LiveId" clId="{2E694533-A3D7-44F0-8378-4BF09FAADAF7}" dt="2026-03-13T11:39:15.629" v="93" actId="20577"/>
          <ac:spMkLst>
            <pc:docMk/>
            <pc:sldMk cId="0" sldId="272"/>
            <ac:spMk id="17" creationId="{00000000-0000-0000-0000-000000000000}"/>
          </ac:spMkLst>
        </pc:spChg>
        <pc:spChg chg="mod">
          <ac:chgData name="Le Jiayang" userId="72dc08ead7328938" providerId="LiveId" clId="{2E694533-A3D7-44F0-8378-4BF09FAADAF7}" dt="2026-03-17T09:26:07.237" v="222" actId="20577"/>
          <ac:spMkLst>
            <pc:docMk/>
            <pc:sldMk cId="0" sldId="272"/>
            <ac:spMk id="18" creationId="{00000000-0000-0000-0000-000000000000}"/>
          </ac:spMkLst>
        </pc:spChg>
        <pc:spChg chg="mod">
          <ac:chgData name="Le Jiayang" userId="72dc08ead7328938" providerId="LiveId" clId="{2E694533-A3D7-44F0-8378-4BF09FAADAF7}" dt="2026-03-17T09:24:56.710" v="216"/>
          <ac:spMkLst>
            <pc:docMk/>
            <pc:sldMk cId="0" sldId="272"/>
            <ac:spMk id="20" creationId="{00000000-0000-0000-0000-000000000000}"/>
          </ac:spMkLst>
        </pc:spChg>
        <pc:spChg chg="mod">
          <ac:chgData name="Le Jiayang" userId="72dc08ead7328938" providerId="LiveId" clId="{2E694533-A3D7-44F0-8378-4BF09FAADAF7}" dt="2026-03-17T09:26:15.888" v="228" actId="20577"/>
          <ac:spMkLst>
            <pc:docMk/>
            <pc:sldMk cId="0" sldId="272"/>
            <ac:spMk id="21" creationId="{00000000-0000-0000-0000-000000000000}"/>
          </ac:spMkLst>
        </pc:spChg>
        <pc:spChg chg="mod">
          <ac:chgData name="Le Jiayang" userId="72dc08ead7328938" providerId="LiveId" clId="{2E694533-A3D7-44F0-8378-4BF09FAADAF7}" dt="2026-03-13T11:39:24.585" v="118" actId="20577"/>
          <ac:spMkLst>
            <pc:docMk/>
            <pc:sldMk cId="0" sldId="272"/>
            <ac:spMk id="23" creationId="{00000000-0000-0000-0000-000000000000}"/>
          </ac:spMkLst>
        </pc:spChg>
        <pc:spChg chg="mod">
          <ac:chgData name="Le Jiayang" userId="72dc08ead7328938" providerId="LiveId" clId="{2E694533-A3D7-44F0-8378-4BF09FAADAF7}" dt="2026-03-17T09:26:11.343" v="225" actId="20577"/>
          <ac:spMkLst>
            <pc:docMk/>
            <pc:sldMk cId="0" sldId="272"/>
            <ac:spMk id="24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1:39:41.948" v="124" actId="20577"/>
        <pc:sldMkLst>
          <pc:docMk/>
          <pc:sldMk cId="0" sldId="273"/>
        </pc:sldMkLst>
        <pc:spChg chg="mod">
          <ac:chgData name="Le Jiayang" userId="72dc08ead7328938" providerId="LiveId" clId="{2E694533-A3D7-44F0-8378-4BF09FAADAF7}" dt="2026-03-13T11:39:41.948" v="124" actId="20577"/>
          <ac:spMkLst>
            <pc:docMk/>
            <pc:sldMk cId="0" sldId="273"/>
            <ac:spMk id="9" creationId="{00000000-0000-0000-0000-000000000000}"/>
          </ac:spMkLst>
        </pc:spChg>
      </pc:sldChg>
      <pc:sldMasterChg chg="setBg modSldLayout">
        <pc:chgData name="Le Jiayang" userId="72dc08ead7328938" providerId="LiveId" clId="{2E694533-A3D7-44F0-8378-4BF09FAADAF7}" dt="2026-03-13T10:57:37.500" v="5"/>
        <pc:sldMasterMkLst>
          <pc:docMk/>
          <pc:sldMasterMk cId="0" sldId="2147483648"/>
        </pc:sldMasterMkLst>
        <pc:sldLayoutChg chg="setBg">
          <pc:chgData name="Le Jiayang" userId="72dc08ead7328938" providerId="LiveId" clId="{2E694533-A3D7-44F0-8378-4BF09FAADAF7}" dt="2026-03-13T10:57:37.500" v="5"/>
          <pc:sldLayoutMkLst>
            <pc:docMk/>
            <pc:sldMasterMk cId="0" sldId="2147483648"/>
            <pc:sldLayoutMk cId="0" sldId="2147483649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F40"/>
                </a:solidFill>
                <a:latin typeface="Arial"/>
              </a:defRPr>
            </a:pPr>
            <a:r>
              <a:rPr lang="en-US" sz="1100" b="0" i="0" u="none" strike="noStrike" dirty="0">
                <a:solidFill>
                  <a:srgbClr val="0F1F40"/>
                </a:solidFill>
                <a:latin typeface="Arial"/>
              </a:rPr>
              <a:t>Test vs Train MSE — Width Sweep (Attempt 8b)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MSE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</c:v>
                </c:pt>
                <c:pt idx="1">
                  <c:v>30</c:v>
                </c:pt>
                <c:pt idx="2">
                  <c:v>80</c:v>
                </c:pt>
                <c:pt idx="3">
                  <c:v>150</c:v>
                </c:pt>
                <c:pt idx="4">
                  <c:v>220</c:v>
                </c:pt>
                <c:pt idx="5">
                  <c:v>260</c:v>
                </c:pt>
                <c:pt idx="6">
                  <c:v>300</c:v>
                </c:pt>
                <c:pt idx="7">
                  <c:v>400</c:v>
                </c:pt>
                <c:pt idx="8">
                  <c:v>700</c:v>
                </c:pt>
                <c:pt idx="9">
                  <c:v>1500</c:v>
                </c:pt>
                <c:pt idx="10">
                  <c:v>3000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0.88</c:v>
                </c:pt>
                <c:pt idx="1">
                  <c:v>0.72</c:v>
                </c:pt>
                <c:pt idx="2">
                  <c:v>0.44</c:v>
                </c:pt>
                <c:pt idx="3">
                  <c:v>0.14000000000000001</c:v>
                </c:pt>
                <c:pt idx="4">
                  <c:v>0.02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F6-4DB9-8118-C42C09B61A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MSE (vs clean teacher)</c:v>
                </c:pt>
              </c:strCache>
            </c:strRef>
          </c:tx>
          <c:spPr>
            <a:ln w="31750" cap="flat">
              <a:solidFill>
                <a:srgbClr val="E052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05246"/>
              </a:solidFill>
              <a:ln w="9525" cap="flat">
                <a:solidFill>
                  <a:srgbClr val="E0524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</c:v>
                </c:pt>
                <c:pt idx="1">
                  <c:v>30</c:v>
                </c:pt>
                <c:pt idx="2">
                  <c:v>80</c:v>
                </c:pt>
                <c:pt idx="3">
                  <c:v>150</c:v>
                </c:pt>
                <c:pt idx="4">
                  <c:v>220</c:v>
                </c:pt>
                <c:pt idx="5">
                  <c:v>260</c:v>
                </c:pt>
                <c:pt idx="6">
                  <c:v>300</c:v>
                </c:pt>
                <c:pt idx="7">
                  <c:v>400</c:v>
                </c:pt>
                <c:pt idx="8">
                  <c:v>700</c:v>
                </c:pt>
                <c:pt idx="9">
                  <c:v>1500</c:v>
                </c:pt>
                <c:pt idx="10">
                  <c:v>3000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1.05</c:v>
                </c:pt>
                <c:pt idx="1">
                  <c:v>0.92</c:v>
                </c:pt>
                <c:pt idx="2">
                  <c:v>1.4</c:v>
                </c:pt>
                <c:pt idx="3">
                  <c:v>4.2</c:v>
                </c:pt>
                <c:pt idx="4">
                  <c:v>22</c:v>
                </c:pt>
                <c:pt idx="5">
                  <c:v>52.43</c:v>
                </c:pt>
                <c:pt idx="6">
                  <c:v>32</c:v>
                </c:pt>
                <c:pt idx="7">
                  <c:v>12.5</c:v>
                </c:pt>
                <c:pt idx="8">
                  <c:v>3.8</c:v>
                </c:pt>
                <c:pt idx="9">
                  <c:v>1.4</c:v>
                </c:pt>
                <c:pt idx="10">
                  <c:v>0.8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5F6-4DB9-8118-C42C09B61A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191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4" name="Text 2"/>
          <p:cNvSpPr/>
          <p:nvPr/>
        </p:nvSpPr>
        <p:spPr>
          <a:xfrm>
            <a:off x="548640" y="814184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 in
</a:t>
            </a:r>
            <a:r>
              <a:rPr lang="en-US" sz="4400" b="1" dirty="0">
                <a:solidFill>
                  <a:srgbClr val="CC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Overparameterized MLPs</a:t>
            </a:r>
            <a:endParaRPr lang="en-US" sz="4400" dirty="0">
              <a:solidFill>
                <a:srgbClr val="CC0000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825864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Text 4"/>
          <p:cNvSpPr/>
          <p:nvPr/>
        </p:nvSpPr>
        <p:spPr>
          <a:xfrm>
            <a:off x="914400" y="2944736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Teacher-Student MLP Study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46594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  ·  Azis Maaraij Jamil  ·  Komila Askarova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923144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STAN47 – Deep Learning and AI Methods  ·  Lund University  ·  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20240" cy="329184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5" name="Shape 3"/>
          <p:cNvSpPr/>
          <p:nvPr/>
        </p:nvSpPr>
        <p:spPr>
          <a:xfrm>
            <a:off x="960120" y="1143000"/>
            <a:ext cx="640080" cy="64008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Text 4"/>
          <p:cNvSpPr/>
          <p:nvPr/>
        </p:nvSpPr>
        <p:spPr>
          <a:xfrm>
            <a:off x="96012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 &amp; Setup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005840"/>
            <a:ext cx="1920240" cy="329184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0" name="Shape 8"/>
          <p:cNvSpPr/>
          <p:nvPr/>
        </p:nvSpPr>
        <p:spPr>
          <a:xfrm>
            <a:off x="3108960" y="114300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1" name="Text 9"/>
          <p:cNvSpPr/>
          <p:nvPr/>
        </p:nvSpPr>
        <p:spPr>
          <a:xfrm>
            <a:off x="310896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46888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Optimizer Effects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Azis Maaraij Jamil 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17720" y="1005840"/>
            <a:ext cx="1920240" cy="3291840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5" name="Shape 13"/>
          <p:cNvSpPr/>
          <p:nvPr/>
        </p:nvSpPr>
        <p:spPr>
          <a:xfrm>
            <a:off x="5257800" y="114300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6" name="Text 14"/>
          <p:cNvSpPr/>
          <p:nvPr/>
        </p:nvSpPr>
        <p:spPr>
          <a:xfrm>
            <a:off x="52578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Decay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1772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Komila Askarova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20240" cy="3291840"/>
          </a:xfrm>
          <a:prstGeom prst="rect">
            <a:avLst/>
          </a:prstGeom>
          <a:solidFill>
            <a:srgbClr val="F0F4FF"/>
          </a:solidFill>
          <a:ln w="25400">
            <a:solidFill>
              <a:srgbClr val="0F1F4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20" name="Shape 18"/>
          <p:cNvSpPr/>
          <p:nvPr/>
        </p:nvSpPr>
        <p:spPr>
          <a:xfrm>
            <a:off x="7406640" y="1143000"/>
            <a:ext cx="640080" cy="640080"/>
          </a:xfrm>
          <a:prstGeom prst="ellipse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1" name="Text 19"/>
          <p:cNvSpPr/>
          <p:nvPr/>
        </p:nvSpPr>
        <p:spPr>
          <a:xfrm>
            <a:off x="74066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6656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Bias-Variance Tradeoff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206240" cy="31089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1089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502920" y="143560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Paradigm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fit by minimizing training error (ERM)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Underfitting: too simple → high bias, poor train &amp; test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too complex → low train error, high test error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solution: find the 'sweet spot' of complexity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wisdom: more parameters = more overfitting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114800" cy="31089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1" name="Shape 9"/>
          <p:cNvSpPr/>
          <p:nvPr/>
        </p:nvSpPr>
        <p:spPr>
          <a:xfrm>
            <a:off x="4709160" y="1325880"/>
            <a:ext cx="64008" cy="3108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2" name="Text 10"/>
          <p:cNvSpPr/>
          <p:nvPr/>
        </p:nvSpPr>
        <p:spPr>
          <a:xfrm>
            <a:off x="5852160" y="1435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Error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1764792"/>
            <a:ext cx="1554480" cy="27432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4" name="Text 12"/>
          <p:cNvSpPr/>
          <p:nvPr/>
        </p:nvSpPr>
        <p:spPr>
          <a:xfrm>
            <a:off x="4800600" y="17647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Bias)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178040" y="1764792"/>
            <a:ext cx="1508760" cy="27432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6" name="Text 14"/>
          <p:cNvSpPr/>
          <p:nvPr/>
        </p:nvSpPr>
        <p:spPr>
          <a:xfrm>
            <a:off x="7178040" y="176479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Variance)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401327" y="3781044"/>
            <a:ext cx="273266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8" name="Text 16"/>
          <p:cNvSpPr/>
          <p:nvPr/>
        </p:nvSpPr>
        <p:spPr>
          <a:xfrm>
            <a:off x="6126480" y="4069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0" y="4617720"/>
            <a:ext cx="9144000" cy="530352"/>
          </a:xfrm>
          <a:prstGeom prst="rect">
            <a:avLst/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0" name="Text 18"/>
          <p:cNvSpPr/>
          <p:nvPr/>
        </p:nvSpPr>
        <p:spPr>
          <a:xfrm>
            <a:off x="365760" y="4626864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Modern deep networks are massively overparameterized — yet they generalize well. Why?</a:t>
            </a:r>
            <a:endParaRPr lang="en-US" sz="1200" dirty="0"/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F8570659-505C-6805-169B-0C78274414D4}"/>
              </a:ext>
            </a:extLst>
          </p:cNvPr>
          <p:cNvCxnSpPr>
            <a:cxnSpLocks/>
            <a:endCxn id="17" idx="2"/>
          </p:cNvCxnSpPr>
          <p:nvPr/>
        </p:nvCxnSpPr>
        <p:spPr>
          <a:xfrm rot="16200000" flipH="1">
            <a:off x="4692546" y="2200279"/>
            <a:ext cx="1869946" cy="1547615"/>
          </a:xfrm>
          <a:prstGeom prst="curvedConnector2">
            <a:avLst/>
          </a:prstGeom>
          <a:ln w="38100">
            <a:solidFill>
              <a:srgbClr val="CC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3C060030-A995-4AFC-1857-06003F4F25EB}"/>
              </a:ext>
            </a:extLst>
          </p:cNvPr>
          <p:cNvCxnSpPr>
            <a:cxnSpLocks/>
            <a:stCxn id="17" idx="6"/>
          </p:cNvCxnSpPr>
          <p:nvPr/>
        </p:nvCxnSpPr>
        <p:spPr>
          <a:xfrm flipV="1">
            <a:off x="6674593" y="2039112"/>
            <a:ext cx="1545771" cy="1869948"/>
          </a:xfrm>
          <a:prstGeom prst="curvedConnector2">
            <a:avLst/>
          </a:prstGeom>
          <a:ln w="38100">
            <a:solidFill>
              <a:srgbClr val="CC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Double Descent Phenomenon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1234440" y="146304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123444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Regime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Underparameterized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&lt;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976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Bias-variance tradeoff holds. Increasing width → lower train &amp; test error.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4" name="Shape 12"/>
          <p:cNvSpPr/>
          <p:nvPr/>
        </p:nvSpPr>
        <p:spPr>
          <a:xfrm>
            <a:off x="4160520" y="1463040"/>
            <a:ext cx="731520" cy="7315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5" name="Text 13"/>
          <p:cNvSpPr/>
          <p:nvPr/>
        </p:nvSpPr>
        <p:spPr>
          <a:xfrm>
            <a:off x="416052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29184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Interpolation Peak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threshold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9184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≈ 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5584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sz="1100" dirty="0"/>
              <a:t>Model fits training data exactly. Test error spikes at its peak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algn="ctr"/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'crisis point'.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21" name="Shape 19"/>
          <p:cNvSpPr/>
          <p:nvPr/>
        </p:nvSpPr>
        <p:spPr>
          <a:xfrm>
            <a:off x="7086600" y="146304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2" name="Text 20"/>
          <p:cNvSpPr/>
          <p:nvPr/>
        </p:nvSpPr>
        <p:spPr>
          <a:xfrm>
            <a:off x="708660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1792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Regime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Overparameterized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1792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&gt; 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8192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overfits training data perfectly. But test error descends again.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overfitting!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4617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metric: </a:t>
            </a:r>
            <a:r>
              <a:rPr lang="en-US" sz="11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Parameter-to-sample ratio  p/n  </a:t>
            </a:r>
            <a:r>
              <a:rPr lang="en-US" sz="1100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 = model parameters, n = training samples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4800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Belkin et al. (2019)  ·  Nakkiran et al. (2019)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Experimental Journey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1965960" cy="333756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932688" y="1417320"/>
            <a:ext cx="640080" cy="64008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93268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Fully-Trainable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(Att. 1–4)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1417320" cy="274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1" name="Text 9"/>
          <p:cNvSpPr/>
          <p:nvPr/>
        </p:nvSpPr>
        <p:spPr>
          <a:xfrm>
            <a:off x="36576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clear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spike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68880" y="1325880"/>
            <a:ext cx="1965960" cy="3337560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3" name="Shape 11"/>
          <p:cNvSpPr/>
          <p:nvPr/>
        </p:nvSpPr>
        <p:spPr>
          <a:xfrm>
            <a:off x="3081528" y="141732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4" name="Text 12"/>
          <p:cNvSpPr/>
          <p:nvPr/>
        </p:nvSpPr>
        <p:spPr>
          <a:xfrm>
            <a:off x="308152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51460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Features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(Att. 4a)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0" y="3154680"/>
            <a:ext cx="141732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7" name="Text 15"/>
          <p:cNvSpPr/>
          <p:nvPr/>
        </p:nvSpPr>
        <p:spPr>
          <a:xfrm>
            <a:off x="251460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Clean double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 confirmed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1325880"/>
            <a:ext cx="1965960" cy="333756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9" name="Shape 17"/>
          <p:cNvSpPr/>
          <p:nvPr/>
        </p:nvSpPr>
        <p:spPr>
          <a:xfrm>
            <a:off x="5230368" y="141732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0" name="Text 18"/>
          <p:cNvSpPr/>
          <p:nvPr/>
        </p:nvSpPr>
        <p:spPr>
          <a:xfrm>
            <a:off x="523036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MLP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(Att. 5–6)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92040" y="3154680"/>
            <a:ext cx="141732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3" name="Text 21"/>
          <p:cNvSpPr/>
          <p:nvPr/>
        </p:nvSpPr>
        <p:spPr>
          <a:xfrm>
            <a:off x="466344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Still smooth —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learning masks it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766560" y="1325880"/>
            <a:ext cx="1965960" cy="3337560"/>
          </a:xfrm>
          <a:prstGeom prst="rect">
            <a:avLst/>
          </a:prstGeom>
          <a:solidFill>
            <a:srgbClr val="F0F4FF"/>
          </a:solidFill>
          <a:ln w="25400">
            <a:solidFill>
              <a:srgbClr val="0F1F4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25" name="Shape 23"/>
          <p:cNvSpPr/>
          <p:nvPr/>
        </p:nvSpPr>
        <p:spPr>
          <a:xfrm>
            <a:off x="7379208" y="1417320"/>
            <a:ext cx="640080" cy="640080"/>
          </a:xfrm>
          <a:prstGeom prst="ellipse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6" name="Text 24"/>
          <p:cNvSpPr/>
          <p:nvPr/>
        </p:nvSpPr>
        <p:spPr>
          <a:xfrm>
            <a:off x="737920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1228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Frozen-Layer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(Att. 7–8b)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040880" y="3154680"/>
            <a:ext cx="1417320" cy="27432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9" name="Text 27"/>
          <p:cNvSpPr/>
          <p:nvPr/>
        </p:nvSpPr>
        <p:spPr>
          <a:xfrm>
            <a:off x="681228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Clear double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 reproduced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1343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46227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1111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0" y="4617720"/>
            <a:ext cx="9144000" cy="530352"/>
          </a:xfrm>
          <a:prstGeom prst="rect">
            <a:avLst/>
          </a:prstGeom>
          <a:solidFill>
            <a:srgbClr val="F0F4FF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4" name="Text 32"/>
          <p:cNvSpPr/>
          <p:nvPr/>
        </p:nvSpPr>
        <p:spPr>
          <a:xfrm>
            <a:off x="365760" y="4626864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double descent visibility depends on representation learning · optimization · and evaluation protocol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Fully-Trainable MLPs Hide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&amp; 3: Negative Result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56232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decreases as width grows (as expected)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curve remains smooth (no spike visible)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occurs but does not cause catastrophic test 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1363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reasons why: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447288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learning: width changes the effective hypothesis class, not just capacity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regularization: SGD/Adam bias toward minimum-norm interpolants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overfitting: overparameterized nets generalize despite zero train error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3" name="Shape 11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Diagnostic — Random Features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856232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isolate the effect, we switched to fixed random ReLU features with a closed-form linear readout (Attempt 4a):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5603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φ(x) = ReLU(Wx),  </a:t>
            </a:r>
          </a:p>
          <a:p>
            <a:pPr marL="0" indent="0" algn="ctr">
              <a:buNone/>
            </a:pPr>
            <a:r>
              <a:rPr lang="en-US" sz="12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linear readout only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99008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n_train = 256,  d_in = 50,  noise_std = 0.5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= number of random features m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confirmed at m = 260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3931920"/>
            <a:ext cx="3931920" cy="59436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9" name="Text 17"/>
          <p:cNvSpPr/>
          <p:nvPr/>
        </p:nvSpPr>
        <p:spPr>
          <a:xfrm>
            <a:off x="4892040" y="3959352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Canonical double descent confirmed — sharp train collapse, clear test peak, second descent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4a confirmed the DGP can produce double descent — the fully-trainable MLP's feature learning was masking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NOTEBOOK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Design: Frozen-Layer MLP (Attempt 8b)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1892808"/>
            <a:ext cx="50292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0" name="Text 8"/>
          <p:cNvSpPr/>
          <p:nvPr/>
        </p:nvSpPr>
        <p:spPr>
          <a:xfrm>
            <a:off x="594360" y="1892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15568" y="2112264"/>
            <a:ext cx="365760" cy="457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2" name="Text 10"/>
          <p:cNvSpPr/>
          <p:nvPr/>
        </p:nvSpPr>
        <p:spPr>
          <a:xfrm>
            <a:off x="1115568" y="198424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508760" y="1801368"/>
            <a:ext cx="1005840" cy="68580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4" name="Text 12"/>
          <p:cNvSpPr/>
          <p:nvPr/>
        </p:nvSpPr>
        <p:spPr>
          <a:xfrm>
            <a:off x="1508760" y="1801368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ReLU(Wx)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542032" y="19842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880360" y="1801368"/>
            <a:ext cx="868680" cy="68580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7" name="Text 15"/>
          <p:cNvSpPr/>
          <p:nvPr/>
        </p:nvSpPr>
        <p:spPr>
          <a:xfrm>
            <a:off x="2880360" y="1801368"/>
            <a:ext cx="868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aᵀ·h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67328" y="198424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ŷ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2651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f(x) = aᵀ · ReLU(Wx)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306324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layer W: random init, frozen throughout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Readout a: trained via Adam to convergence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m controls capacity — only a grows with 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bridges random features theory and deep networks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22" name="Shape 20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3" name="Text 21"/>
          <p:cNvSpPr/>
          <p:nvPr/>
        </p:nvSpPr>
        <p:spPr>
          <a:xfrm>
            <a:off x="4846320" y="14173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Protocol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185623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870448" y="18562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n_train = 256,  n_test = 4 096,  d = 50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232257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70448" y="232257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Linear: y = xᵀw* + ε,  noise_std = 0.5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27889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sweep: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870448" y="278892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10, 20, … 400, 500, 700 … 8 000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325526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70448" y="325526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 lr = 0.01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372160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criterion: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870448" y="372160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&lt; 1e-8  (guaranteed interpolation)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187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70448" y="418795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vs. clean teacher (no noise)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the first layer eliminates feature learning — capacity is purely width-driven, giving a clean interpolation threshold.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NOTEBOOK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Descent: Actual Results (Attempt 8b)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20040" y="1325880"/>
          <a:ext cx="53949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3273552" y="2130552"/>
            <a:ext cx="1280160" cy="43891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5"/>
          <p:cNvSpPr/>
          <p:nvPr/>
        </p:nvSpPr>
        <p:spPr>
          <a:xfrm>
            <a:off x="3273552" y="2130552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m=260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897880" y="1325880"/>
            <a:ext cx="292608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0" name="Text 7"/>
          <p:cNvSpPr/>
          <p:nvPr/>
        </p:nvSpPr>
        <p:spPr>
          <a:xfrm>
            <a:off x="6035040" y="14356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035040" y="18288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→ 0 at width ≈ n_train = 256 (guaranteed by early-stop)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peaks sharply at m = 260 (test MSE = 52.43)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descent: test MSE falls to ~0.80 at m = 3 000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Overparameterized models recover — benign overfitting confirmed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reproduces Belkin et al. (2019) qualitatively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43600" y="4069080"/>
            <a:ext cx="2834640" cy="384048"/>
          </a:xfrm>
          <a:prstGeom prst="rect">
            <a:avLst/>
          </a:prstGeom>
          <a:solidFill>
            <a:srgbClr val="FEF2F2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3" name="Text 10"/>
          <p:cNvSpPr/>
          <p:nvPr/>
        </p:nvSpPr>
        <p:spPr>
          <a:xfrm>
            <a:off x="5989320" y="408736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width = 260  →  test MSE = 52.43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hidden width m. y-axis: MSE.  Data: n_train=256, noise_std=0.5, Adam, early-stop at train MSE&lt;1e-8.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Optimization Effects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optimizer choice shapes behavior near the interpolation threshold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Azis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 Effects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L2 weight decay reshapes the generalization curve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Kamila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Decay (L2 Regularization)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914400" y="3200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54864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457200" y="1316736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457200" y="13167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1115568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is real — confirmed in a frozen-feature MLP: test MSE peaks at width=260 (52.43), then descends to 0.80 at width=3 000.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1883664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0" name="Shape 8"/>
          <p:cNvSpPr/>
          <p:nvPr/>
        </p:nvSpPr>
        <p:spPr>
          <a:xfrm>
            <a:off x="320040" y="1883664"/>
            <a:ext cx="54864" cy="676656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1" name="Shape 9"/>
          <p:cNvSpPr/>
          <p:nvPr/>
        </p:nvSpPr>
        <p:spPr>
          <a:xfrm>
            <a:off x="457200" y="2084832"/>
            <a:ext cx="274320" cy="2743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2" name="Text 10"/>
          <p:cNvSpPr/>
          <p:nvPr/>
        </p:nvSpPr>
        <p:spPr>
          <a:xfrm>
            <a:off x="45720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1883664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Fully-trainable MLPs hide the effect: feature learning and optimizer bias (SGD/Adam) smooth out the interpolation spike — benign overfitting.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651760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5" name="Shape 13"/>
          <p:cNvSpPr/>
          <p:nvPr/>
        </p:nvSpPr>
        <p:spPr>
          <a:xfrm>
            <a:off x="320040" y="2651760"/>
            <a:ext cx="54864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6" name="Shape 14"/>
          <p:cNvSpPr/>
          <p:nvPr/>
        </p:nvSpPr>
        <p:spPr>
          <a:xfrm>
            <a:off x="457200" y="2852928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7" name="Text 15"/>
          <p:cNvSpPr/>
          <p:nvPr/>
        </p:nvSpPr>
        <p:spPr>
          <a:xfrm>
            <a:off x="457200" y="28529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2651760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choice (Adam vs. SGD) affects convergence speed and generalization, but not the fundamental structure of the double descent curve.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419856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0" name="Shape 18"/>
          <p:cNvSpPr/>
          <p:nvPr/>
        </p:nvSpPr>
        <p:spPr>
          <a:xfrm>
            <a:off x="320040" y="3419856"/>
            <a:ext cx="54864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1" name="Shape 19"/>
          <p:cNvSpPr/>
          <p:nvPr/>
        </p:nvSpPr>
        <p:spPr>
          <a:xfrm>
            <a:off x="457200" y="3621024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2" name="Text 20"/>
          <p:cNvSpPr/>
          <p:nvPr/>
        </p:nvSpPr>
        <p:spPr>
          <a:xfrm>
            <a:off x="457200" y="36210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1248" y="3419856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regularization suppresses the peak but introduces bias. Optimal strength depends on noise level.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187952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5" name="Shape 23"/>
          <p:cNvSpPr/>
          <p:nvPr/>
        </p:nvSpPr>
        <p:spPr>
          <a:xfrm>
            <a:off x="320040" y="4187952"/>
            <a:ext cx="54864" cy="676656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6" name="Shape 24"/>
          <p:cNvSpPr/>
          <p:nvPr/>
        </p:nvSpPr>
        <p:spPr>
          <a:xfrm>
            <a:off x="457200" y="4389120"/>
            <a:ext cx="274320" cy="2743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7" name="Text 25"/>
          <p:cNvSpPr/>
          <p:nvPr/>
        </p:nvSpPr>
        <p:spPr>
          <a:xfrm>
            <a:off x="457200" y="4389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41248" y="4187952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visibility depends on capacity × optimization × representation learning — not capacity alone.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 &amp; Limitations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502920" y="1435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Strengths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92808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teacher-student setup cleanly isolates model complexity effects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test set (10 000) gives stable, reliable MSE estimates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seeds ensure full reproducibility across all conditions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parameter sweeps across wide range (4 → 1 024 neurons)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experiments isolate noise, optimizer, and regularization effects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2" name="Text 10"/>
          <p:cNvSpPr/>
          <p:nvPr/>
        </p:nvSpPr>
        <p:spPr>
          <a:xfrm>
            <a:off x="4846320" y="1435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Limitations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892808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task — real-world data has structure, not Gaussian noise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two-layer MLPs tested — results may differ for deeper or convolutional architectures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n = 1 000 — epoch-wise double descent not explored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learning rate hand-tuned — may not be fully optimal comparison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Minimum-norm solution theory not directly verified empirically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 &amp; Author Contributions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502920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0136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Belkin et al. (2019). Reconciling modern machine learning practice and the bias-variance tradeoff. PNAS.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35000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Nakkiran et al. (2019). Deep Double Descent: Where Bigger Models and More Data Hurt. ICLR 2020.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89864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Goodfellow, Bengio &amp; Courville (2016). Deep Learning. MIT Press. (Ch. 5, 7, 8)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34472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Zhang et al. (2017). Understanding deep learning requires rethinking generalization. ICLR.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99592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Kingma &amp; Ba (2015). Adam: A Method for Stochastic Optimization. ICLR.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32120" y="1325880"/>
            <a:ext cx="329184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4" name="Shape 12"/>
          <p:cNvSpPr/>
          <p:nvPr/>
        </p:nvSpPr>
        <p:spPr>
          <a:xfrm>
            <a:off x="553212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5" name="Text 13"/>
          <p:cNvSpPr/>
          <p:nvPr/>
        </p:nvSpPr>
        <p:spPr>
          <a:xfrm>
            <a:off x="5715000" y="14173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Contributions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41848" y="1828800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7" name="Text 15"/>
          <p:cNvSpPr/>
          <p:nvPr/>
        </p:nvSpPr>
        <p:spPr>
          <a:xfrm>
            <a:off x="5779008" y="18288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79008" y="2121408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theory, teacher-student setup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41848" y="2779776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0" name="Text 18"/>
          <p:cNvSpPr/>
          <p:nvPr/>
        </p:nvSpPr>
        <p:spPr>
          <a:xfrm>
            <a:off x="5779008" y="27797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Azis Maaraij Jamil 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779008" y="3961055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comparison, SGD vs Adam analysis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41848" y="3730752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3" name="Text 21"/>
          <p:cNvSpPr/>
          <p:nvPr/>
        </p:nvSpPr>
        <p:spPr>
          <a:xfrm>
            <a:off x="5779008" y="373075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Komila Askarova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779008" y="3015817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study, weight decay analysis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6" name="Text 24"/>
          <p:cNvSpPr/>
          <p:nvPr/>
        </p:nvSpPr>
        <p:spPr>
          <a:xfrm>
            <a:off x="411480" y="4626864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github.com/LeJ7-commits/double-descent-overparameterized-mlps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7315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633472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STAN47 – Deep Learning and AI Methods  ·  Lund University  ·  March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97280" y="3246120"/>
            <a:ext cx="6949440" cy="1371600"/>
          </a:xfrm>
          <a:prstGeom prst="rect">
            <a:avLst/>
          </a:prstGeom>
          <a:solidFill>
            <a:srgbClr val="162744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9" name="Text 7"/>
          <p:cNvSpPr/>
          <p:nvPr/>
        </p:nvSpPr>
        <p:spPr>
          <a:xfrm>
            <a:off x="1234440" y="3310128"/>
            <a:ext cx="667512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</a:t>
            </a: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shows that classical bias-variance theory may be incomplete. Overparameterized models can generalize well — understanding when and why requires new theoretical tools.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2995</TotalTime>
  <Words>1328</Words>
  <Application>Microsoft Office PowerPoint</Application>
  <PresentationFormat>On-screen Show (16:9)</PresentationFormat>
  <Paragraphs>217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Double Descent in Overparameterized MLPs</dc:title>
  <dc:subject>PptxGenJS Presentation</dc:subject>
  <dc:creator>STAN47 Group</dc:creator>
  <cp:lastModifiedBy>Le Jiayang</cp:lastModifiedBy>
  <cp:revision>1</cp:revision>
  <dcterms:created xsi:type="dcterms:W3CDTF">2026-03-13T09:52:26Z</dcterms:created>
  <dcterms:modified xsi:type="dcterms:W3CDTF">2026-03-17T09:26:18Z</dcterms:modified>
</cp:coreProperties>
</file>