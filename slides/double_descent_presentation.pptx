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0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8EDCF7-2E7A-475C-B070-2104BFA8BAA3}" v="18" dt="2026-03-13T11:04:18.4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599" autoAdjust="0"/>
  </p:normalViewPr>
  <p:slideViewPr>
    <p:cSldViewPr snapToGrid="0" snapToObjects="1">
      <p:cViewPr varScale="1">
        <p:scale>
          <a:sx n="138" d="100"/>
          <a:sy n="138" d="100"/>
        </p:scale>
        <p:origin x="300" y="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73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Jiayang" userId="72dc08ead7328938" providerId="LiveId" clId="{2E694533-A3D7-44F0-8378-4BF09FAADAF7}"/>
    <pc:docChg chg="undo custSel delSld modSld modMainMaster">
      <pc:chgData name="Le Jiayang" userId="72dc08ead7328938" providerId="LiveId" clId="{2E694533-A3D7-44F0-8378-4BF09FAADAF7}" dt="2026-03-13T12:12:33.774" v="164" actId="207"/>
      <pc:docMkLst>
        <pc:docMk/>
      </pc:docMkLst>
      <pc:sldChg chg="modSp mod setBg">
        <pc:chgData name="Le Jiayang" userId="72dc08ead7328938" providerId="LiveId" clId="{2E694533-A3D7-44F0-8378-4BF09FAADAF7}" dt="2026-03-13T12:12:33.774" v="164" actId="207"/>
        <pc:sldMkLst>
          <pc:docMk/>
          <pc:sldMk cId="0" sldId="256"/>
        </pc:sldMkLst>
        <pc:spChg chg="mod">
          <ac:chgData name="Le Jiayang" userId="72dc08ead7328938" providerId="LiveId" clId="{2E694533-A3D7-44F0-8378-4BF09FAADAF7}" dt="2026-03-13T12:12:33.774" v="164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145" v="162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514" v="1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8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42:03.799" v="138" actId="20577"/>
        <pc:sldMkLst>
          <pc:docMk/>
          <pc:sldMk cId="0" sldId="257"/>
        </pc:sldMkLst>
        <pc:spChg chg="mod">
          <ac:chgData name="Le Jiayang" userId="72dc08ead7328938" providerId="LiveId" clId="{2E694533-A3D7-44F0-8378-4BF09FAADAF7}" dt="2026-03-13T11:04:06.263" v="71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2:03.799" v="138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18.465" v="7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25.031" v="88" actId="20577"/>
          <ac:spMkLst>
            <pc:docMk/>
            <pc:sldMk cId="0" sldId="257"/>
            <ac:spMk id="18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45:51.975" v="139" actId="1076"/>
        <pc:sldMkLst>
          <pc:docMk/>
          <pc:sldMk cId="0" sldId="258"/>
        </pc:sldMkLst>
        <pc:spChg chg="mod">
          <ac:chgData name="Le Jiayang" userId="72dc08ead7328938" providerId="LiveId" clId="{2E694533-A3D7-44F0-8378-4BF09FAADAF7}" dt="2026-03-13T11:45:51.975" v="139" actId="1076"/>
          <ac:spMkLst>
            <pc:docMk/>
            <pc:sldMk cId="0" sldId="258"/>
            <ac:spMk id="17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59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0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1"/>
        </pc:sldMkLst>
      </pc:sldChg>
      <pc:sldChg chg="modSp mod setBg">
        <pc:chgData name="Le Jiayang" userId="72dc08ead7328938" providerId="LiveId" clId="{2E694533-A3D7-44F0-8378-4BF09FAADAF7}" dt="2026-03-13T10:57:37.500" v="5"/>
        <pc:sldMkLst>
          <pc:docMk/>
          <pc:sldMk cId="0" sldId="262"/>
        </pc:sldMkLst>
        <pc:spChg chg="mod">
          <ac:chgData name="Le Jiayang" userId="72dc08ead7328938" providerId="LiveId" clId="{2E694533-A3D7-44F0-8378-4BF09FAADAF7}" dt="2026-03-13T10:57:29.110" v="1" actId="27636"/>
          <ac:spMkLst>
            <pc:docMk/>
            <pc:sldMk cId="0" sldId="262"/>
            <ac:spMk id="4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3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4"/>
        </pc:sldMkLst>
      </pc:sldChg>
      <pc:sldChg chg="delSp modSp mod setBg">
        <pc:chgData name="Le Jiayang" userId="72dc08ead7328938" providerId="LiveId" clId="{2E694533-A3D7-44F0-8378-4BF09FAADAF7}" dt="2026-03-13T11:40:35.060" v="136" actId="478"/>
        <pc:sldMkLst>
          <pc:docMk/>
          <pc:sldMk cId="0" sldId="265"/>
        </pc:sldMkLst>
        <pc:spChg chg="mod">
          <ac:chgData name="Le Jiayang" userId="72dc08ead7328938" providerId="LiveId" clId="{2E694533-A3D7-44F0-8378-4BF09FAADAF7}" dt="2026-03-13T11:40:32.041" v="134" actId="20577"/>
          <ac:spMkLst>
            <pc:docMk/>
            <pc:sldMk cId="0" sldId="265"/>
            <ac:spMk id="4" creationId="{00000000-0000-0000-0000-000000000000}"/>
          </ac:spMkLst>
        </pc:spChg>
        <pc:graphicFrameChg chg="del modGraphic">
          <ac:chgData name="Le Jiayang" userId="72dc08ead7328938" providerId="LiveId" clId="{2E694533-A3D7-44F0-8378-4BF09FAADAF7}" dt="2026-03-13T11:40:35.060" v="136" actId="478"/>
          <ac:graphicFrameMkLst>
            <pc:docMk/>
            <pc:sldMk cId="0" sldId="265"/>
            <ac:graphicFrameMk id="11" creationId="{00000000-0000-0000-0000-000000000000}"/>
          </ac:graphicFrameMkLst>
        </pc:graphicFrameChg>
      </pc:sldChg>
      <pc:sldChg chg="del setBg">
        <pc:chgData name="Le Jiayang" userId="72dc08ead7328938" providerId="LiveId" clId="{2E694533-A3D7-44F0-8378-4BF09FAADAF7}" dt="2026-03-13T11:40:39.382" v="137" actId="2696"/>
        <pc:sldMkLst>
          <pc:docMk/>
          <pc:sldMk cId="0" sldId="266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7"/>
        </pc:sldMkLst>
      </pc:sldChg>
      <pc:sldChg chg="delSp modSp mod setBg">
        <pc:chgData name="Le Jiayang" userId="72dc08ead7328938" providerId="LiveId" clId="{2E694533-A3D7-44F0-8378-4BF09FAADAF7}" dt="2026-03-13T11:40:17.584" v="132" actId="478"/>
        <pc:sldMkLst>
          <pc:docMk/>
          <pc:sldMk cId="0" sldId="268"/>
        </pc:sldMkLst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7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8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9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7.995" v="126" actId="478"/>
          <ac:spMkLst>
            <pc:docMk/>
            <pc:sldMk cId="0" sldId="268"/>
            <ac:spMk id="10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11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10.139" v="127" actId="478"/>
          <ac:spMkLst>
            <pc:docMk/>
            <pc:sldMk cId="0" sldId="268"/>
            <ac:spMk id="12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13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17.584" v="132" actId="478"/>
          <ac:spMkLst>
            <pc:docMk/>
            <pc:sldMk cId="0" sldId="268"/>
            <ac:spMk id="14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10.139" v="127" actId="478"/>
          <ac:spMkLst>
            <pc:docMk/>
            <pc:sldMk cId="0" sldId="268"/>
            <ac:spMk id="15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16" creationId="{00000000-0000-0000-0000-000000000000}"/>
          </ac:spMkLst>
        </pc:spChg>
        <pc:spChg chg="del mod">
          <ac:chgData name="Le Jiayang" userId="72dc08ead7328938" providerId="LiveId" clId="{2E694533-A3D7-44F0-8378-4BF09FAADAF7}" dt="2026-03-13T11:40:15.812" v="131" actId="478"/>
          <ac:spMkLst>
            <pc:docMk/>
            <pc:sldMk cId="0" sldId="268"/>
            <ac:spMk id="17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10.139" v="127" actId="478"/>
          <ac:spMkLst>
            <pc:docMk/>
            <pc:sldMk cId="0" sldId="268"/>
            <ac:spMk id="18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04.924" v="125" actId="478"/>
          <ac:spMkLst>
            <pc:docMk/>
            <pc:sldMk cId="0" sldId="268"/>
            <ac:spMk id="19" creationId="{00000000-0000-0000-0000-000000000000}"/>
          </ac:spMkLst>
        </pc:spChg>
        <pc:spChg chg="del mod">
          <ac:chgData name="Le Jiayang" userId="72dc08ead7328938" providerId="LiveId" clId="{2E694533-A3D7-44F0-8378-4BF09FAADAF7}" dt="2026-03-13T11:40:14.078" v="129" actId="478"/>
          <ac:spMkLst>
            <pc:docMk/>
            <pc:sldMk cId="0" sldId="268"/>
            <ac:spMk id="20" creationId="{00000000-0000-0000-0000-000000000000}"/>
          </ac:spMkLst>
        </pc:spChg>
        <pc:spChg chg="del">
          <ac:chgData name="Le Jiayang" userId="72dc08ead7328938" providerId="LiveId" clId="{2E694533-A3D7-44F0-8378-4BF09FAADAF7}" dt="2026-03-13T11:40:10.139" v="127" actId="478"/>
          <ac:spMkLst>
            <pc:docMk/>
            <pc:sldMk cId="0" sldId="268"/>
            <ac:spMk id="21" creationId="{00000000-0000-0000-0000-000000000000}"/>
          </ac:spMkLst>
        </pc:spChg>
      </pc:sldChg>
      <pc:sldChg chg="del setBg">
        <pc:chgData name="Le Jiayang" userId="72dc08ead7328938" providerId="LiveId" clId="{2E694533-A3D7-44F0-8378-4BF09FAADAF7}" dt="2026-03-13T11:40:21.568" v="133" actId="2696"/>
        <pc:sldMkLst>
          <pc:docMk/>
          <pc:sldMk cId="0" sldId="269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0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1"/>
        </pc:sldMkLst>
      </pc:sldChg>
      <pc:sldChg chg="modSp mod setBg">
        <pc:chgData name="Le Jiayang" userId="72dc08ead7328938" providerId="LiveId" clId="{2E694533-A3D7-44F0-8378-4BF09FAADAF7}" dt="2026-03-13T11:39:24.585" v="118" actId="20577"/>
        <pc:sldMkLst>
          <pc:docMk/>
          <pc:sldMk cId="0" sldId="272"/>
        </pc:sldMkLst>
        <pc:spChg chg="mod">
          <ac:chgData name="Le Jiayang" userId="72dc08ead7328938" providerId="LiveId" clId="{2E694533-A3D7-44F0-8378-4BF09FAADAF7}" dt="2026-03-13T11:39:15.629" v="93" actId="20577"/>
          <ac:spMkLst>
            <pc:docMk/>
            <pc:sldMk cId="0" sldId="272"/>
            <ac:spMk id="1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39:24.585" v="118" actId="20577"/>
          <ac:spMkLst>
            <pc:docMk/>
            <pc:sldMk cId="0" sldId="272"/>
            <ac:spMk id="23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39:41.948" v="124" actId="20577"/>
        <pc:sldMkLst>
          <pc:docMk/>
          <pc:sldMk cId="0" sldId="273"/>
        </pc:sldMkLst>
        <pc:spChg chg="mod">
          <ac:chgData name="Le Jiayang" userId="72dc08ead7328938" providerId="LiveId" clId="{2E694533-A3D7-44F0-8378-4BF09FAADAF7}" dt="2026-03-13T11:39:41.948" v="124" actId="20577"/>
          <ac:spMkLst>
            <pc:docMk/>
            <pc:sldMk cId="0" sldId="273"/>
            <ac:spMk id="9" creationId="{00000000-0000-0000-0000-000000000000}"/>
          </ac:spMkLst>
        </pc:spChg>
      </pc:sldChg>
      <pc:sldMasterChg chg="setBg modSldLayout">
        <pc:chgData name="Le Jiayang" userId="72dc08ead7328938" providerId="LiveId" clId="{2E694533-A3D7-44F0-8378-4BF09FAADAF7}" dt="2026-03-13T10:57:37.500" v="5"/>
        <pc:sldMasterMkLst>
          <pc:docMk/>
          <pc:sldMasterMk cId="0" sldId="2147483648"/>
        </pc:sldMasterMkLst>
        <pc:sldLayoutChg chg="setBg">
          <pc:chgData name="Le Jiayang" userId="72dc08ead7328938" providerId="LiveId" clId="{2E694533-A3D7-44F0-8378-4BF09FAADAF7}" dt="2026-03-13T10:57:37.500" v="5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F4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F1F40"/>
                </a:solidFill>
                <a:latin typeface="Arial"/>
              </a:rPr>
              <a:t>Test vs Train MSE — Width Sweep (Attempt 8b)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MSE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0.88</c:v>
                </c:pt>
                <c:pt idx="1">
                  <c:v>0.72</c:v>
                </c:pt>
                <c:pt idx="2">
                  <c:v>0.44</c:v>
                </c:pt>
                <c:pt idx="3">
                  <c:v>0.14000000000000001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F6-4DB9-8118-C42C09B61A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MSE (vs clean teacher)</c:v>
                </c:pt>
              </c:strCache>
            </c:strRef>
          </c:tx>
          <c:spPr>
            <a:ln w="31750" cap="flat">
              <a:solidFill>
                <a:srgbClr val="E052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05246"/>
              </a:solidFill>
              <a:ln w="9525" cap="flat">
                <a:solidFill>
                  <a:srgbClr val="E0524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1.05</c:v>
                </c:pt>
                <c:pt idx="1">
                  <c:v>0.92</c:v>
                </c:pt>
                <c:pt idx="2">
                  <c:v>1.4</c:v>
                </c:pt>
                <c:pt idx="3">
                  <c:v>4.2</c:v>
                </c:pt>
                <c:pt idx="4">
                  <c:v>22</c:v>
                </c:pt>
                <c:pt idx="5">
                  <c:v>52.43</c:v>
                </c:pt>
                <c:pt idx="6">
                  <c:v>32</c:v>
                </c:pt>
                <c:pt idx="7">
                  <c:v>12.5</c:v>
                </c:pt>
                <c:pt idx="8">
                  <c:v>3.8</c:v>
                </c:pt>
                <c:pt idx="9">
                  <c:v>1.4</c:v>
                </c:pt>
                <c:pt idx="10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5F6-4DB9-8118-C42C09B61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1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814184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 in
</a:t>
            </a:r>
            <a:r>
              <a:rPr lang="en-US" sz="4400" b="1" dirty="0">
                <a:solidFill>
                  <a:srgbClr val="CC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Overparameterized MLPs</a:t>
            </a:r>
            <a:endParaRPr lang="en-US" sz="4400" dirty="0">
              <a:solidFill>
                <a:srgbClr val="CC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825864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44736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Teacher-Student MLP Study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659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  ·  Azis </a:t>
            </a:r>
            <a:r>
              <a:rPr lang="en-US" sz="1400" dirty="0" err="1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Maaraij</a:t>
            </a:r>
            <a:r>
              <a:rPr lang="en-US" sz="1400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Jamil  ·  Komila Askarova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92314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20240" cy="329184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14300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Setup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20240" cy="329184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114300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Optimizer Effects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</a:t>
            </a:r>
            <a:r>
              <a:rPr lang="en-US" sz="1100" i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Maaraij</a:t>
            </a: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Jamil 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20240" cy="329184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11430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29184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06640" y="114300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6656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Bias-Variance Tradeoff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420624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25880"/>
            <a:ext cx="64008" cy="31089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356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Paradigm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fit by minimizing training error (ERM)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Underfitting: too simple → high bias, poor train &amp; 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too complex → low train error, high test error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solution: find the 'sweet spot' of complexity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wisdom: more parameters = more overfitting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1480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325880"/>
            <a:ext cx="64008" cy="3108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435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Error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Bias)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Variance)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1327" y="3781044"/>
            <a:ext cx="273266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4069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Modern deep networks are massively overparameterized — yet they generalize well. Why?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Descent Phenomenon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3444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Regime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Underparameterized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&lt;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Bias-variance tradeoff holds. Increasing width → lower train &amp; test error.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60520" y="1463040"/>
            <a:ext cx="731520" cy="7315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9184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Interpolation Peak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threshold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≈ 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5584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barely fits training data. Test error spikes — the 'crisis point'.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8660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Regime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&gt; 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8192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overfits training data perfectly. But test error descends again — benign overfitting!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617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metric: </a:t>
            </a:r>
            <a:r>
              <a:rPr lang="en-US" sz="11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Parameter-to-sample ratio  p/n  </a:t>
            </a: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 = model parameters, n = training samples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4800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Belkin et al. (2019)  ·  Nakkiran et al. (2019)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Experimental Journey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1965960" cy="333756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141732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1–4)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417320" cy="274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spike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325880"/>
            <a:ext cx="1965960" cy="333756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81528" y="14173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8152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Features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(Att. 4a)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0" y="3154680"/>
            <a:ext cx="14173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1460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Clean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confirmed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1325880"/>
            <a:ext cx="1965960" cy="333756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30368" y="14173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036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MLP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(Att. 5–6)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92040" y="3154680"/>
            <a:ext cx="14173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Still smooth 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 masks 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6560" y="1325880"/>
            <a:ext cx="1965960" cy="333756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79208" y="141732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7920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Frozen-Layer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7–8b)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417320" cy="2743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Clear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reproduced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1343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6227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1111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0F4FF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double descent visibility depends on representation learning · optimization · and evaluation protocol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Fully-Trainable MLPs Hide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&amp; 3: Negative Result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56232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decreases as width grows — as expected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curve remains smooth — no spike visible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occurs but does not cause catastrophic test 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36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reasons why: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47288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learning: width changes the effective hypothesis class, not just capacity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regularization: SGD/Adam bias toward minimum-norm interpolants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overfitting: overparameterized nets generalize despite zero train error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Diagnostic — Random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5623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the effect, we switched to fixed random ReLU features with a closed-form linear readout (Attempt 4a):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φ(x) = ReLU(Wx),  solve linear readout only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99008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d_in = 50,  noise_std = 0.5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number of random features 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confirmed at m = 260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931920"/>
            <a:ext cx="3931920" cy="5943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95935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Canonical double descent confirmed — sharp train collapse, clear test peak, second descent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4a confirmed the DGP can produce double descent — the fully-trainable MLP's feature learning was masking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Design: Frozen-Layer MLP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50292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15568" y="2112264"/>
            <a:ext cx="365760" cy="45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198424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ReLU(Wx)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42032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aᵀ·h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67328" y="198424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ŷ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651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aᵀ · ReLU(Wx)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layer W: random init, frozen throughout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 a: trained via Adam to convergence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m controls capacity — only a grows with 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random features theory and deep networks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185623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0448" y="18562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n_test = 4 096,  d = 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32257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70448" y="2322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Linear: y = xᵀw* + ε,  noise_std = 0.5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7889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sweep: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70448" y="27889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10, 20, … 400, 500, 700 … 8 000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2552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70448" y="325526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 lr = 0.01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72160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criterion: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70448" y="37216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&lt; 1e-8  (guaranteed interpolation)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87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70448" y="41879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vs. clean teacher (no noise)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the first layer eliminates feature learning — capacity is purely width-driven, giving a clean interpolation threshold.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Descent: Actual Results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320040" y="132588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m=260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92608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035040" y="14356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35040" y="18288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→ 0 at width ≈ n_train = 256 (guaranteed by early-stop)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peaks sharply at m = 260 (test MSE = 52.43)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descent: test MSE falls to ~0.80 at m = 3 000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 models recover — benign overfitting confirmed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reproduces Belkin et al. (2019) qualitatively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4069080"/>
            <a:ext cx="283464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40873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width = 260  →  test MSE = 52.43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hidden width m (log scale implied).  y-axis: MSE.  Data: n_train=256, noise_std=0.5, Adam, early-stop at train MSE&lt;1e-8.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Effects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optimizer choice shapes behavior near the interpolation threshold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Azis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Effects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L2 weight decay reshapes the generalization curve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Kamila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 (L2 Regularization)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200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1673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167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11556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is real — confirmed in a frozen-feature MLP: test MSE peaks at width=260 (52.43), then descends to 0.80 at width=3 000.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883664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883664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84832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1883664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 MLPs hide the effect: feature learning and optimizer bias (SGD/Adam) smooth out the interpolation spike — benign overfitting.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651760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651760"/>
            <a:ext cx="54864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52928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529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2651760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choice (Adam vs. SGD) affects convergence speed and generalization, but not the fundamental structure of the double descent curve.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419856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419856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62102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6210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3419856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 suppresses the peak but introduces bias. Optimal strength depends on noise level.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187952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187952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389120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389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1248" y="4187952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visibility depends on capacity × optimization × representation learning — not capacity alone.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&amp; Limitations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Strengths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teacher-student setup cleanly isolates model complexity effects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test set (10 000) gives stable, reliable MSE estimates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seeds ensure full reproducibility across all conditions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parameter sweeps across wide range (4 → 1 024 neurons)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experiments isolate noise, optimizer, and regularization effects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task — real-world data has structure, not Gaussian noise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two-layer MLPs tested — results may differ for deeper or convolutional architectures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 = 1 000 — epoch-wise double descent not explored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learning rate hand-tuned — may not be fully optimal comparison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Minimum-norm solution theory not directly verified empirically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Author Contributions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502920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4173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0136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Belkin et al. (2019). Reconciling modern machine learning practice and the bias-variance tradeoff. PNAS.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Nakkiran et al. (2019). Deep Double Descent: Where Bigger Models and More Data Hurt. ICLR 2020.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89864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Goodfellow, Bengio &amp; Courville (2016). Deep Learning. MIT Press. (Ch. 5, 7, 8)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4472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Zhang et al. (2017). Understanding deep learning requires rethinking generalization. ICLR.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99592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Kingma &amp; Ba (2015). Adam: A Method for Stochastic Optimization. ICLR.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1325880"/>
            <a:ext cx="329184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3212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1417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Contributions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41848" y="1828800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18288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79008" y="212140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theory, teacher-student setup, Notebook 1, Slides 1–8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41848" y="2779776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79008" y="2779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79008" y="3072384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comparison, SGD vs Adam analysis, Notebook 3, Slides 9–11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41848" y="3730752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79008" y="40233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study, weight decay analysis, Notebook 2, Slides 12–14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626864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github.com/LeJ7-commits/double-descent-overparameterized-mlps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77240"/>
            <a:ext cx="7315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3246120"/>
            <a:ext cx="6949440" cy="1371600"/>
          </a:xfrm>
          <a:prstGeom prst="rect">
            <a:avLst/>
          </a:prstGeom>
          <a:solidFill>
            <a:srgbClr val="162744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3310128"/>
            <a:ext cx="667512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shows that classical bias-variance theory may be incomplete. Overparameterized models can generalize well — understanding when and why requires new theoretical tools.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1343</Words>
  <Application>Microsoft Office PowerPoint</Application>
  <PresentationFormat>On-screen Show (16:9)</PresentationFormat>
  <Paragraphs>214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Descent in Overparameterized MLPs</dc:title>
  <dc:subject>PptxGenJS Presentation</dc:subject>
  <dc:creator>STAN47 Group</dc:creator>
  <cp:lastModifiedBy>Le Jiayang</cp:lastModifiedBy>
  <cp:revision>1</cp:revision>
  <dcterms:created xsi:type="dcterms:W3CDTF">2026-03-13T09:52:26Z</dcterms:created>
  <dcterms:modified xsi:type="dcterms:W3CDTF">2026-03-13T12:12:43Z</dcterms:modified>
</cp:coreProperties>
</file>